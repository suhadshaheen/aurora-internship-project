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8" r:id="rId11"/>
    <p:sldId id="269" r:id="rId12"/>
    <p:sldId id="270" r:id="rId13"/>
    <p:sldId id="271" r:id="rId14"/>
    <p:sldId id="263" r:id="rId15"/>
    <p:sldId id="264" r:id="rId16"/>
    <p:sldId id="265" r:id="rId17"/>
    <p:sldId id="266" r:id="rId18"/>
    <p:sldId id="267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Class Distribution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Non-Demented</c:v>
                </c:pt>
                <c:pt idx="1">
                  <c:v>Demented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135</c:v>
                </c:pt>
                <c:pt idx="1">
                  <c:v>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cd8a300-669a-441e-9fc8-e2b50f650079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Age Distribution by Class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Non-Demented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20-39</c:v>
                </c:pt>
                <c:pt idx="1">
                  <c:v>40-59</c:v>
                </c:pt>
                <c:pt idx="2">
                  <c:v>60-79</c:v>
                </c:pt>
                <c:pt idx="3">
                  <c:v>80+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38</c:v>
                </c:pt>
                <c:pt idx="2">
                  <c:v>32</c:v>
                </c:pt>
                <c:pt idx="3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Demented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20-39</c:v>
                </c:pt>
                <c:pt idx="1">
                  <c:v>40-59</c:v>
                </c:pt>
                <c:pt idx="2">
                  <c:v>60-79</c:v>
                </c:pt>
                <c:pt idx="3">
                  <c:v>80+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10</c:v>
                </c:pt>
                <c:pt idx="2">
                  <c:v>63</c:v>
                </c:pt>
                <c:pt idx="3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a34e236a-2dd9-49b8-a8ff-b4807d5ad369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80.85</c:v>
                </c:pt>
                <c:pt idx="1">
                  <c:v>82.35</c:v>
                </c:pt>
                <c:pt idx="2">
                  <c:v>70</c:v>
                </c:pt>
                <c:pt idx="3">
                  <c:v>75.68</c:v>
                </c:pt>
                <c:pt idx="4">
                  <c:v>88.89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SVM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80.85</c:v>
                </c:pt>
                <c:pt idx="1">
                  <c:v>82.35</c:v>
                </c:pt>
                <c:pt idx="2">
                  <c:v>70</c:v>
                </c:pt>
                <c:pt idx="3">
                  <c:v>75.68</c:v>
                </c:pt>
                <c:pt idx="4">
                  <c:v>89.44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85.11</c:v>
                </c:pt>
                <c:pt idx="1">
                  <c:v>93.33</c:v>
                </c:pt>
                <c:pt idx="2">
                  <c:v>70</c:v>
                </c:pt>
                <c:pt idx="3">
                  <c:v>80</c:v>
                </c:pt>
                <c:pt idx="4">
                  <c:v>89.72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  <c:pt idx="4">
                  <c:v>ROC-AUC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82.98</c:v>
                </c:pt>
                <c:pt idx="1">
                  <c:v>87.5</c:v>
                </c:pt>
                <c:pt idx="2">
                  <c:v>70</c:v>
                </c:pt>
                <c:pt idx="3">
                  <c:v>77.78</c:v>
                </c:pt>
                <c:pt idx="4">
                  <c:v>93.61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E8F4F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 cmpd="sng" algn="ctr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E8F4F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272c87e-2c96-4384-8e18-69d727199e41}"/>
      </c:ext>
    </c:extLst>
  </c:chart>
  <c:spPr>
    <a:solidFill>
      <a:srgbClr val="132337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Random Forest — Feature Importance (%)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Gender</c:v>
                </c:pt>
                <c:pt idx="1">
                  <c:v>SES</c:v>
                </c:pt>
                <c:pt idx="2">
                  <c:v>Education</c:v>
                </c:pt>
                <c:pt idx="3">
                  <c:v>eTIV</c:v>
                </c:pt>
                <c:pt idx="4">
                  <c:v>ASF</c:v>
                </c:pt>
                <c:pt idx="5">
                  <c:v>Age</c:v>
                </c:pt>
                <c:pt idx="6">
                  <c:v>nWBV</c:v>
                </c:pt>
                <c:pt idx="7">
                  <c:v>MMSE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1.5</c:v>
                </c:pt>
                <c:pt idx="1">
                  <c:v>2.1</c:v>
                </c:pt>
                <c:pt idx="2">
                  <c:v>5.8</c:v>
                </c:pt>
                <c:pt idx="3">
                  <c:v>8.9</c:v>
                </c:pt>
                <c:pt idx="4">
                  <c:v>8.8</c:v>
                </c:pt>
                <c:pt idx="5">
                  <c:v>16</c:v>
                </c:pt>
                <c:pt idx="6">
                  <c:v>17.5</c:v>
                </c:pt>
                <c:pt idx="7">
                  <c:v>38.5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2311912-bea2-4de1-91a1-1b0a3e2a2d4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 panose="020B0604020202020204"/>
              </a:rPr>
              <a:t>Decision Tree Importance</a:t>
            </a:r>
            <a:endParaRPr sz="1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MMSE</c:v>
                </c:pt>
                <c:pt idx="1">
                  <c:v>Brain Vol.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80.9</c:v>
                </c:pt>
                <c:pt idx="1">
                  <c:v>14.4</c:v>
                </c:pt>
                <c:pt idx="2">
                  <c:v>4.7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774b026-1b5d-40a5-b574-31be59df2660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114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37160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Detection of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74320" y="1965960"/>
            <a:ext cx="5943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Alzheimer's Disease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74320" y="2578608"/>
            <a:ext cx="5943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Machine Learning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274320" y="3310128"/>
            <a:ext cx="5943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Dementia from MRI Brain Measurements &amp; Demographic Data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3913632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4048" y="3986784"/>
            <a:ext cx="5074920" cy="59436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Team:  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Sana Assi  ·  Assel Jayousi  ·  Noor Shawahne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29400" y="1051560"/>
            <a:ext cx="2240280" cy="1051560"/>
          </a:xfrm>
          <a:prstGeom prst="roundRect">
            <a:avLst>
              <a:gd name="adj" fmla="val 8696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29400" y="109728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436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629400" y="1600200"/>
            <a:ext cx="2240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29400" y="2313432"/>
            <a:ext cx="2240280" cy="1051560"/>
          </a:xfrm>
          <a:prstGeom prst="roundRect">
            <a:avLst>
              <a:gd name="adj" fmla="val 8696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29400" y="2359152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629400" y="2862072"/>
            <a:ext cx="2240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Models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29400" y="3575304"/>
            <a:ext cx="2240280" cy="1051560"/>
          </a:xfrm>
          <a:prstGeom prst="roundRect">
            <a:avLst>
              <a:gd name="adj" fmla="val 8696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629400" y="3621024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93.6%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629400" y="4123944"/>
            <a:ext cx="2240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AUC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Alzheimer's Disease?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1078992"/>
          </a:xfrm>
          <a:prstGeom prst="roundRect">
            <a:avLst>
              <a:gd name="adj" fmla="val 8475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9875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960120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234440"/>
            <a:ext cx="7635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Alzheimer's disease is a progressive neurological disorder that causes brain cells to degenerate and die. It is the most common cause of dementia — a group of symptoms that affect memory, thinking, and social abilities severely enough to interfere with daily life. The disease has no cure and worsens over time.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2084832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17627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" y="2578608"/>
            <a:ext cx="2084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55M+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28600" y="2990088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Affected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28600" y="3291840"/>
            <a:ext cx="1993392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 55 million people worldwide live with dementia. Alzheimer's accounts for 60–70% of all cases.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414016" y="2084832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217627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14016" y="2578608"/>
            <a:ext cx="2084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in 3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2459736" y="2990088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Seniors Die With It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459736" y="3291840"/>
            <a:ext cx="1993392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in 3 seniors dies with Alzheimer's or another dementia. It kills more than breast &amp; prostate cancer combined.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45152" y="2084832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2176272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45152" y="2578608"/>
            <a:ext cx="2084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4690872" y="2990088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is Key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690872" y="3291840"/>
            <a:ext cx="1993392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detection allows earlier treatment, slows progression, and gives patients more years of independent life.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876288" y="2084832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176272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76288" y="2578608"/>
            <a:ext cx="2084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6922008" y="2990088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Machine Learning?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922008" y="3291840"/>
            <a:ext cx="1993392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can find patterns in MRI scans &amp; cognitive data that are invisible to the human eye — enabling faster, cheaper screening.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Idea &amp; Objective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960120"/>
          </a:xfrm>
          <a:prstGeom prst="roundRect">
            <a:avLst>
              <a:gd name="adj" fmla="val 9524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749808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Question: 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accurately predict dementia using MRI brain measurements and basic patient demographics?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4160520" cy="2944368"/>
          </a:xfrm>
          <a:prstGeom prst="roundRect">
            <a:avLst>
              <a:gd name="adj" fmla="val 3106"/>
            </a:avLst>
          </a:prstGeom>
          <a:solidFill>
            <a:srgbClr val="0D1B2A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02996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The Problem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4871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2468880"/>
            <a:ext cx="3611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Alzheimer's has NO cure — early detection is the only way to slow it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0358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3017520"/>
            <a:ext cx="3611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diagnosis takes years and is expensive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5844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" y="3566160"/>
            <a:ext cx="3611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Symptoms appear late — by then 30–40% of brain cells are already lost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413308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4944" y="4114800"/>
            <a:ext cx="36118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Doctors need objective, fast, and accessible screening tools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4709160" y="1965960"/>
            <a:ext cx="4160520" cy="2944368"/>
          </a:xfrm>
          <a:prstGeom prst="roundRect">
            <a:avLst>
              <a:gd name="adj" fmla="val 3106"/>
            </a:avLst>
          </a:prstGeom>
          <a:solidFill>
            <a:srgbClr val="0D1B2A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4846320" y="2029968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Our Solution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8716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38928" y="2468880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5138928" y="2679192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OASIS MRI dataset — 436 patients with brain scans, cognitive scores &amp; demographics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3035808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38928" y="3017520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Approach: 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5138928" y="3227832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4 ML classifiers and tune each using GridSearchCV with 5-Fold Cross-Validation</a:t>
            </a:r>
            <a:endParaRPr lang="en-US" sz="10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3584448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138928" y="3566160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5138928" y="3776472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classification: Demented (CDR &gt; 0) vs. Non-Demented (CDR = 0)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4133088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138928" y="4114800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</a:t>
            </a:r>
            <a:endParaRPr lang="en-US" sz="1050" dirty="0"/>
          </a:p>
        </p:txBody>
      </p:sp>
      <p:sp>
        <p:nvSpPr>
          <p:cNvPr id="29" name="Text 19"/>
          <p:cNvSpPr/>
          <p:nvPr/>
        </p:nvSpPr>
        <p:spPr>
          <a:xfrm>
            <a:off x="5138928" y="4325112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the best model &amp; the most predictive features for early dementia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— OASIS Cross-Sectional MRI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32688"/>
            <a:ext cx="8321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Open Access Series of Imaging Studies (oasis-brains.org) — a public dataset of cross-sectional MRI brain scans collected from 436 subjects aged 18–96, including both demented and non-demented adults.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664208"/>
            <a:ext cx="2029968" cy="960120"/>
          </a:xfrm>
          <a:prstGeom prst="roundRect">
            <a:avLst>
              <a:gd name="adj" fmla="val 9524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691640"/>
            <a:ext cx="20299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" y="2103120"/>
            <a:ext cx="20299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Patients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" y="2322576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dataset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95728" y="1664208"/>
            <a:ext cx="2029968" cy="960120"/>
          </a:xfrm>
          <a:prstGeom prst="roundRect">
            <a:avLst>
              <a:gd name="adj" fmla="val 9524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1691640"/>
            <a:ext cx="20299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95728" y="2103120"/>
            <a:ext cx="20299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Usable Samples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95728" y="2322576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CDR filter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664208"/>
            <a:ext cx="2029968" cy="960120"/>
          </a:xfrm>
          <a:prstGeom prst="roundRect">
            <a:avLst>
              <a:gd name="adj" fmla="val 9524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1691640"/>
            <a:ext cx="20299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08576" y="2103120"/>
            <a:ext cx="20299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Non-Demented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08576" y="2322576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CDR = 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21424" y="1664208"/>
            <a:ext cx="2029968" cy="960120"/>
          </a:xfrm>
          <a:prstGeom prst="roundRect">
            <a:avLst>
              <a:gd name="adj" fmla="val 9524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21424" y="1691640"/>
            <a:ext cx="202996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21424" y="2103120"/>
            <a:ext cx="20299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Demented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21424" y="2322576"/>
            <a:ext cx="20299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CDR &gt; 0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274320" y="2743200"/>
          <a:ext cx="859536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5029200"/>
                <a:gridCol w="1463040"/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Patient age in years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Demographic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Gender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Female / Male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Demographic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Education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Years of education (scale 1–5)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Demographic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Socioeconomic status (scale 1–5)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Demographic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MMSE  ★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Mini-Mental State Exam score (0–30) — measures cognitive ability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Cognitive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CDR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Clinical Dementia Rating — our TARGET variable (0=none, 0.5–2=dementia)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Target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eTIV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Estimated total intracranial volume (brain size)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MRI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nWBV  ★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Normalized whole brain volume — detects brain atrophy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MRI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ASF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Atlas scaling factor — corrects for head size differences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MRI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274320" y="502920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= strongest predictors identified across all models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 (EDA)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155065" y="877570"/>
          <a:ext cx="27432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424170" y="877570"/>
          <a:ext cx="288036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hape 2"/>
          <p:cNvSpPr/>
          <p:nvPr/>
        </p:nvSpPr>
        <p:spPr>
          <a:xfrm>
            <a:off x="182880" y="3218688"/>
            <a:ext cx="2084832" cy="1755648"/>
          </a:xfrm>
          <a:prstGeom prst="roundRect">
            <a:avLst>
              <a:gd name="adj" fmla="val 5208"/>
            </a:avLst>
          </a:prstGeom>
          <a:solidFill>
            <a:srgbClr val="0D1B2A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291840"/>
            <a:ext cx="292608" cy="29260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28600" y="3630168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Balanced Classes</a:t>
            </a:r>
            <a:endParaRPr lang="en-US" sz="1000" dirty="0"/>
          </a:p>
        </p:txBody>
      </p:sp>
      <p:sp>
        <p:nvSpPr>
          <p:cNvPr id="10" name="Text 4"/>
          <p:cNvSpPr/>
          <p:nvPr/>
        </p:nvSpPr>
        <p:spPr>
          <a:xfrm>
            <a:off x="228600" y="3950208"/>
            <a:ext cx="199339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135 Non-Demented vs 100 Demented — acceptable ratio, dataset doesn't need aggressive resampling</a:t>
            </a:r>
            <a:endParaRPr lang="en-US" sz="950" dirty="0"/>
          </a:p>
        </p:txBody>
      </p:sp>
      <p:sp>
        <p:nvSpPr>
          <p:cNvPr id="11" name="Shape 5"/>
          <p:cNvSpPr/>
          <p:nvPr/>
        </p:nvSpPr>
        <p:spPr>
          <a:xfrm>
            <a:off x="2414016" y="3218688"/>
            <a:ext cx="2084832" cy="1755648"/>
          </a:xfrm>
          <a:prstGeom prst="roundRect">
            <a:avLst>
              <a:gd name="adj" fmla="val 5208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456" y="3291840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459736" y="3630168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MMSE: Strongest Signal (−0.62)</a:t>
            </a:r>
            <a:endParaRPr lang="en-US" sz="1000" dirty="0"/>
          </a:p>
        </p:txBody>
      </p:sp>
      <p:sp>
        <p:nvSpPr>
          <p:cNvPr id="14" name="Text 7"/>
          <p:cNvSpPr/>
          <p:nvPr/>
        </p:nvSpPr>
        <p:spPr>
          <a:xfrm>
            <a:off x="2459736" y="3950208"/>
            <a:ext cx="199339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Demented patients score much lower on cognitive tests. MMSE below 24 is a clinical red flag.</a:t>
            </a:r>
            <a:endParaRPr lang="en-US" sz="950" dirty="0"/>
          </a:p>
        </p:txBody>
      </p:sp>
      <p:sp>
        <p:nvSpPr>
          <p:cNvPr id="15" name="Shape 8"/>
          <p:cNvSpPr/>
          <p:nvPr/>
        </p:nvSpPr>
        <p:spPr>
          <a:xfrm>
            <a:off x="4645152" y="3218688"/>
            <a:ext cx="2084832" cy="1755648"/>
          </a:xfrm>
          <a:prstGeom prst="roundRect">
            <a:avLst>
              <a:gd name="adj" fmla="val 5208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291840"/>
            <a:ext cx="292608" cy="29260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690872" y="3630168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Brain Shrinks with Dementia (−0.41)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4690872" y="3950208"/>
            <a:ext cx="199339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Demented patients have measurably lower nWBV — brain atrophy is a key biological marker</a:t>
            </a:r>
            <a:endParaRPr lang="en-US" sz="950" dirty="0"/>
          </a:p>
        </p:txBody>
      </p:sp>
      <p:sp>
        <p:nvSpPr>
          <p:cNvPr id="19" name="Shape 11"/>
          <p:cNvSpPr/>
          <p:nvPr/>
        </p:nvSpPr>
        <p:spPr>
          <a:xfrm>
            <a:off x="6876288" y="3218688"/>
            <a:ext cx="2084832" cy="1755648"/>
          </a:xfrm>
          <a:prstGeom prst="roundRect">
            <a:avLst>
              <a:gd name="adj" fmla="val 5208"/>
            </a:avLst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329184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922008" y="3630168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Risk: Peaks at 60–80</a:t>
            </a:r>
            <a:endParaRPr lang="en-US" sz="1000" dirty="0"/>
          </a:p>
        </p:txBody>
      </p:sp>
      <p:sp>
        <p:nvSpPr>
          <p:cNvPr id="22" name="Text 13"/>
          <p:cNvSpPr/>
          <p:nvPr/>
        </p:nvSpPr>
        <p:spPr>
          <a:xfrm>
            <a:off x="6922008" y="3950208"/>
            <a:ext cx="199339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demented patients fall in the 60–80 age range. Very few cases under 40 — age is a major risk factor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 &amp; Preprocessing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10515" y="960120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10515" y="978408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3435" y="887095"/>
            <a:ext cx="4922520" cy="567055"/>
          </a:xfrm>
          <a:prstGeom prst="roundRect">
            <a:avLst>
              <a:gd name="adj" fmla="val 11290"/>
            </a:avLst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587" y="90525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irrelevant columns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86460" y="1134110"/>
            <a:ext cx="452310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ID, Hand, Delay — they carry no predictive information about dementia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0515" y="1618488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0515" y="1636776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3435" y="1545590"/>
            <a:ext cx="4919980" cy="567055"/>
          </a:xfrm>
          <a:prstGeom prst="roundRect">
            <a:avLst>
              <a:gd name="adj" fmla="val 11290"/>
            </a:avLst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587" y="1563624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rows with missing CDR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86460" y="1791970"/>
            <a:ext cx="41224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 rows removed — CDR is our target variable, we cannot impute or guess it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0515" y="2276856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0515" y="2295144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3435" y="2203450"/>
            <a:ext cx="4922520" cy="567055"/>
          </a:xfrm>
          <a:prstGeom prst="roundRect">
            <a:avLst>
              <a:gd name="adj" fmla="val 11290"/>
            </a:avLst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587" y="2221992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Encode Gender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86460" y="2450465"/>
            <a:ext cx="39903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Converted text to number: Female → 0, Male → 1 (required for ML algorithms)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10515" y="2935224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0515" y="2953512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13435" y="2861945"/>
            <a:ext cx="4922520" cy="567055"/>
          </a:xfrm>
          <a:prstGeom prst="roundRect">
            <a:avLst>
              <a:gd name="adj" fmla="val 11290"/>
            </a:avLst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587" y="2880360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Binarize CDR target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86460" y="3108960"/>
            <a:ext cx="40005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CDR = 0 → Non-Demented (class 0)  |  CDR &gt; 0 → Demented (class 1)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10515" y="3593592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515" y="3611880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13435" y="3520440"/>
            <a:ext cx="4919980" cy="567055"/>
          </a:xfrm>
          <a:prstGeom prst="roundRect">
            <a:avLst>
              <a:gd name="adj" fmla="val 11290"/>
            </a:avLst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6587" y="3538728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Median Imputation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86460" y="3767455"/>
            <a:ext cx="4008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Filled remaining NaN values in Education, SES, MMSE using column median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10515" y="4251960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10515" y="4270248"/>
            <a:ext cx="402336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13435" y="4178935"/>
            <a:ext cx="4922520" cy="567055"/>
          </a:xfrm>
          <a:prstGeom prst="roundRect">
            <a:avLst>
              <a:gd name="adj" fmla="val 11290"/>
            </a:avLst>
          </a:prstGeom>
          <a:solidFill>
            <a:srgbClr val="1323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86587" y="4197096"/>
            <a:ext cx="3566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StandardScaler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86460" y="4425950"/>
            <a:ext cx="389064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Normalized all features to mean=0, std=1 so no feature dominates by scale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5833745" y="2020570"/>
            <a:ext cx="3234690" cy="914400"/>
          </a:xfrm>
          <a:prstGeom prst="roundRect">
            <a:avLst>
              <a:gd name="adj" fmla="val 11111"/>
            </a:avLst>
          </a:prstGeom>
          <a:solidFill>
            <a:srgbClr val="132337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2112645"/>
            <a:ext cx="271780" cy="315595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318250" y="2093595"/>
            <a:ext cx="2771775" cy="735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235 patients · 8 features · 0 missing values · Ready for modeling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Pipeline &amp; Models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6926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87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" y="153619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Train/Test Split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" y="1883664"/>
            <a:ext cx="15087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 train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 test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Stratified split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01368" y="1847088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896112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96926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987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153619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Imputation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11680" y="1883664"/>
            <a:ext cx="15087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Median fill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remaining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84448" y="1847088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896112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96926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987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94760" y="153619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StandardScaler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94760" y="1883664"/>
            <a:ext cx="15087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Normalize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features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mean=0, std=1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67528" y="1847088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896112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96926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987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153619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GridSearchCV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77840" y="1883664"/>
            <a:ext cx="15087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Hyperparameter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tuning with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5-Fold Strat. CV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50608" y="1847088"/>
            <a:ext cx="15544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896112"/>
            <a:ext cx="1600200" cy="19202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63840" y="96926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987552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60920" y="153619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60920" y="1883664"/>
            <a:ext cx="150876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· Precision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 · F1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290779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Classifiers Trained &amp; Tuned: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82880" y="3310128"/>
            <a:ext cx="2084832" cy="1627632"/>
          </a:xfrm>
          <a:prstGeom prst="roundRect">
            <a:avLst>
              <a:gd name="adj" fmla="val 5618"/>
            </a:avLst>
          </a:prstGeom>
          <a:solidFill>
            <a:srgbClr val="0D1B2A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" y="3310128"/>
            <a:ext cx="2084832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319272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" y="3657600"/>
            <a:ext cx="1993392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C=0.1 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14016" y="3310128"/>
            <a:ext cx="2084832" cy="1627632"/>
          </a:xfrm>
          <a:prstGeom prst="roundRect">
            <a:avLst>
              <a:gd name="adj" fmla="val 5618"/>
            </a:avLst>
          </a:prstGeom>
          <a:solidFill>
            <a:srgbClr val="0D1B2A"/>
          </a:solidFill>
          <a:ln w="12700">
            <a:solidFill>
              <a:srgbClr val="0096C7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414016" y="3310128"/>
            <a:ext cx="2084832" cy="274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59736" y="3319272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Vector Machine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459736" y="3657600"/>
            <a:ext cx="1993392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C=0.1 · Linear kernel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45152" y="3310128"/>
            <a:ext cx="2084832" cy="1627632"/>
          </a:xfrm>
          <a:prstGeom prst="roundRect">
            <a:avLst>
              <a:gd name="adj" fmla="val 5618"/>
            </a:avLst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45152" y="3310128"/>
            <a:ext cx="208483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90872" y="3319272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90872" y="3657600"/>
            <a:ext cx="1993392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Entropy · Depth=3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76288" y="3310128"/>
            <a:ext cx="2084832" cy="1627632"/>
          </a:xfrm>
          <a:prstGeom prst="roundRect">
            <a:avLst>
              <a:gd name="adj" fmla="val 5618"/>
            </a:avLst>
          </a:prstGeom>
          <a:solidFill>
            <a:srgbClr val="0D2D4A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76288" y="3310128"/>
            <a:ext cx="2084832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22008" y="3319272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 ⭐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22008" y="3657600"/>
            <a:ext cx="1993392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 trees · Depth=16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9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01768"/>
            <a:ext cx="9144000" cy="73152"/>
          </a:xfrm>
          <a:prstGeom prst="rect">
            <a:avLst/>
          </a:prstGeom>
          <a:solidFill>
            <a:srgbClr val="C4D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6035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Model 1 — Logistic Regression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46520" y="118872"/>
            <a:ext cx="2240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C4DDF2"/>
                </a:solidFill>
                <a:latin typeface="Aptos"/>
              </a:rPr>
              <a:t>Separate model explanation</a:t>
            </a:r>
            <a:endParaRPr sz="850" b="0">
              <a:solidFill>
                <a:srgbClr val="C4DDF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" y="713232"/>
            <a:ext cx="39776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73152" cy="1051560"/>
          </a:xfrm>
          <a:prstGeom prst="rect">
            <a:avLst/>
          </a:prstGeom>
          <a:solidFill>
            <a:srgbClr val="1C6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804672"/>
            <a:ext cx="372160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1C61A1"/>
                </a:solidFill>
                <a:latin typeface="Aptos"/>
              </a:rPr>
              <a:t>What the model does</a:t>
            </a:r>
            <a:endParaRPr sz="1150" b="1">
              <a:solidFill>
                <a:srgbClr val="1C61A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" y="1060704"/>
            <a:ext cx="3721607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30" b="0">
                <a:solidFill>
                  <a:srgbClr val="1F2D3D"/>
                </a:solidFill>
                <a:latin typeface="Aptos"/>
              </a:rPr>
              <a:t>A linear classifier that estimates the probability that a patient belongs to the Demented class. It learns a weight for each feature, so it is easy to interpret and useful as a baseline.</a:t>
            </a:r>
            <a:endParaRPr sz="930" b="0">
              <a:solidFill>
                <a:srgbClr val="1F2D3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1901952"/>
            <a:ext cx="3977639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901952"/>
            <a:ext cx="73152" cy="877824"/>
          </a:xfrm>
          <a:prstGeom prst="rect">
            <a:avLst/>
          </a:prstGeom>
          <a:solidFill>
            <a:srgbClr val="1C6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993392"/>
            <a:ext cx="372160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1C61A1"/>
                </a:solidFill>
                <a:latin typeface="Aptos"/>
              </a:rPr>
              <a:t>Why we used it</a:t>
            </a:r>
            <a:endParaRPr sz="1150" b="1">
              <a:solidFill>
                <a:srgbClr val="1C61A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072" y="2249424"/>
            <a:ext cx="3721607" cy="4663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30" b="0">
                <a:solidFill>
                  <a:srgbClr val="1F2D3D"/>
                </a:solidFill>
                <a:latin typeface="Aptos"/>
              </a:rPr>
              <a:t>Used because it gives a clear comparison point before applying more complex models. It also works well when the relationship between the features and the target is mostly linear.</a:t>
            </a:r>
            <a:endParaRPr sz="930" b="0">
              <a:solidFill>
                <a:srgbClr val="1F2D3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1480" y="2907792"/>
            <a:ext cx="397763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907792"/>
            <a:ext cx="73152" cy="713232"/>
          </a:xfrm>
          <a:prstGeom prst="rect">
            <a:avLst/>
          </a:prstGeom>
          <a:solidFill>
            <a:srgbClr val="1C6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999232"/>
            <a:ext cx="372160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1C61A1"/>
                </a:solidFill>
                <a:latin typeface="Aptos"/>
              </a:rPr>
              <a:t>Final configuration</a:t>
            </a:r>
            <a:endParaRPr sz="1150" b="1">
              <a:solidFill>
                <a:srgbClr val="1C61A1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6072" y="3255264"/>
            <a:ext cx="3721607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30" b="0">
                <a:solidFill>
                  <a:srgbClr val="1F2D3D"/>
                </a:solidFill>
                <a:latin typeface="Aptos"/>
              </a:rPr>
              <a:t>C = 0.1 · </a:t>
            </a:r>
            <a:endParaRPr sz="930" b="0">
              <a:solidFill>
                <a:srgbClr val="1F2D3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6592" y="694944"/>
            <a:ext cx="374903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92442"/>
                </a:solidFill>
                <a:latin typeface="Aptos"/>
              </a:rPr>
              <a:t>Test-set performance</a:t>
            </a:r>
            <a:endParaRPr sz="1400" b="1">
              <a:solidFill>
                <a:srgbClr val="092442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736592" y="1024128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097280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C61A1"/>
                </a:solidFill>
                <a:latin typeface="Aptos"/>
              </a:rPr>
              <a:t>80.85%</a:t>
            </a:r>
            <a:endParaRPr sz="1600" b="1">
              <a:solidFill>
                <a:srgbClr val="1C61A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00600" y="1389888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Accuracy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63056" y="1024128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7064" y="1097280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C61A1"/>
                </a:solidFill>
                <a:latin typeface="Aptos"/>
              </a:rPr>
              <a:t>82.35%</a:t>
            </a:r>
            <a:endParaRPr sz="1600" b="1">
              <a:solidFill>
                <a:srgbClr val="1C61A1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27064" y="1389888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Precision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589520" y="1024128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1097280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C61A1"/>
                </a:solidFill>
                <a:latin typeface="Aptos"/>
              </a:rPr>
              <a:t>70.00%</a:t>
            </a:r>
            <a:endParaRPr sz="1600" b="1">
              <a:solidFill>
                <a:srgbClr val="1C61A1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53528" y="1389888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Recall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36592" y="1773936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1847088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C61A1"/>
                </a:solidFill>
                <a:latin typeface="Aptos"/>
              </a:rPr>
              <a:t>75.68%</a:t>
            </a:r>
            <a:endParaRPr sz="1600" b="1">
              <a:solidFill>
                <a:srgbClr val="1C61A1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00600" y="2139696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F1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63056" y="1773936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7064" y="1847088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C61A1"/>
                </a:solidFill>
                <a:latin typeface="Aptos"/>
              </a:rPr>
              <a:t>88.89%</a:t>
            </a:r>
            <a:endParaRPr sz="1600" b="1">
              <a:solidFill>
                <a:srgbClr val="1C61A1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27064" y="2139696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ROC-AUC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736592" y="2706624"/>
            <a:ext cx="3977639" cy="1536192"/>
          </a:xfrm>
          <a:prstGeom prst="roundRect">
            <a:avLst/>
          </a:prstGeom>
          <a:solidFill>
            <a:srgbClr val="E5F1FC"/>
          </a:solidFill>
          <a:ln>
            <a:solidFill>
              <a:srgbClr val="C6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1184" y="2816352"/>
            <a:ext cx="3611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92442"/>
                </a:solidFill>
                <a:latin typeface="Aptos"/>
              </a:rPr>
              <a:t>How to explain this slide</a:t>
            </a:r>
            <a:endParaRPr sz="1200" b="1">
              <a:solidFill>
                <a:srgbClr val="092442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01184" y="3136392"/>
            <a:ext cx="3639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030" indent="-160020">
              <a:spcAft>
                <a:spcPts val="600"/>
              </a:spcAft>
              <a:defRPr sz="980">
                <a:solidFill>
                  <a:srgbClr val="1F2D3D"/>
                </a:solidFill>
                <a:latin typeface="Aptos"/>
              </a:defRPr>
            </a:pPr>
            <a:r>
              <a:t>• Performed the same as SVM on accuracy, precision, recall, and F1.</a:t>
            </a:r>
          </a:p>
          <a:p>
            <a:pPr marL="240030" indent="-160020">
              <a:spcAft>
                <a:spcPts val="600"/>
              </a:spcAft>
              <a:defRPr sz="980">
                <a:solidFill>
                  <a:srgbClr val="1F2D3D"/>
                </a:solidFill>
                <a:latin typeface="Aptos"/>
              </a:defRPr>
            </a:pPr>
            <a:r>
              <a:t>• Good baseline, but less flexible than tree-based models.</a:t>
            </a:r>
          </a:p>
          <a:p>
            <a:pPr marL="240030" indent="-160020">
              <a:spcAft>
                <a:spcPts val="600"/>
              </a:spcAft>
              <a:defRPr sz="980">
                <a:solidFill>
                  <a:srgbClr val="1F2D3D"/>
                </a:solidFill>
                <a:latin typeface="Aptos"/>
              </a:defRPr>
            </a:pPr>
            <a:r>
              <a:t>• Its result suggests that MMSE and brain-volume features already provide strong linear separation.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553712"/>
            <a:ext cx="8321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0">
                <a:solidFill>
                  <a:srgbClr val="5F6F80"/>
                </a:solidFill>
                <a:latin typeface="Aptos"/>
              </a:rPr>
              <a:t>Main message: compare models not only by accuracy, but also by recall and ROC-AUC because this is a medical screening problem.</a:t>
            </a:r>
            <a:endParaRPr sz="850" b="0">
              <a:solidFill>
                <a:srgbClr val="5F6F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9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01768"/>
            <a:ext cx="9144000" cy="73152"/>
          </a:xfrm>
          <a:prstGeom prst="rect">
            <a:avLst/>
          </a:prstGeom>
          <a:solidFill>
            <a:srgbClr val="C4D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6035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Model 2 — Support Vector Machine (SVM)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46520" y="118872"/>
            <a:ext cx="2240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C4DDF2"/>
                </a:solidFill>
                <a:latin typeface="Aptos"/>
              </a:rPr>
              <a:t>Separate model explanation</a:t>
            </a:r>
            <a:endParaRPr sz="850" b="0">
              <a:solidFill>
                <a:srgbClr val="C4DDF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" y="713232"/>
            <a:ext cx="39776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73152" cy="1051560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804672"/>
            <a:ext cx="372160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685BC7"/>
                </a:solidFill>
                <a:latin typeface="Aptos"/>
              </a:rPr>
              <a:t>What the model does</a:t>
            </a:r>
            <a:endParaRPr sz="1150" b="1">
              <a:solidFill>
                <a:srgbClr val="685BC7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" y="1060704"/>
            <a:ext cx="3721607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30" b="0">
                <a:solidFill>
                  <a:srgbClr val="1F2D3D"/>
                </a:solidFill>
                <a:latin typeface="Aptos"/>
              </a:rPr>
              <a:t>SVM tries to find the decision boundary that separates the two classes with the largest possible margin. In this project, the final selected SVM used a linear kernel.</a:t>
            </a:r>
            <a:endParaRPr sz="930" b="0">
              <a:solidFill>
                <a:srgbClr val="1F2D3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1901952"/>
            <a:ext cx="3977639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901952"/>
            <a:ext cx="73152" cy="877824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993392"/>
            <a:ext cx="372160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685BC7"/>
                </a:solidFill>
                <a:latin typeface="Aptos"/>
              </a:rPr>
              <a:t>Why we used it</a:t>
            </a:r>
            <a:endParaRPr sz="1150" b="1">
              <a:solidFill>
                <a:srgbClr val="685BC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072" y="2249424"/>
            <a:ext cx="3721607" cy="4663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30" b="0">
                <a:solidFill>
                  <a:srgbClr val="1F2D3D"/>
                </a:solidFill>
                <a:latin typeface="Aptos"/>
              </a:rPr>
              <a:t>Used because it is strong for small-to-medium datasets and can separate classes effectively when the feature space contains clear boundaries.</a:t>
            </a:r>
            <a:endParaRPr sz="930" b="0">
              <a:solidFill>
                <a:srgbClr val="1F2D3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1480" y="2907792"/>
            <a:ext cx="397763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907792"/>
            <a:ext cx="73152" cy="713232"/>
          </a:xfrm>
          <a:prstGeom prst="rect">
            <a:avLst/>
          </a:prstGeom>
          <a:solidFill>
            <a:srgbClr val="68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999232"/>
            <a:ext cx="372160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685BC7"/>
                </a:solidFill>
                <a:latin typeface="Aptos"/>
              </a:rPr>
              <a:t>Final configuration</a:t>
            </a:r>
            <a:endParaRPr sz="1150" b="1">
              <a:solidFill>
                <a:srgbClr val="685BC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6072" y="3255264"/>
            <a:ext cx="3721607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30" b="0">
                <a:solidFill>
                  <a:srgbClr val="1F2D3D"/>
                </a:solidFill>
                <a:latin typeface="Aptos"/>
              </a:rPr>
              <a:t>Linear kernel · C = 0.1 · gamma = scale ·</a:t>
            </a:r>
            <a:endParaRPr sz="930" b="0">
              <a:solidFill>
                <a:srgbClr val="1F2D3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6592" y="694944"/>
            <a:ext cx="374903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92442"/>
                </a:solidFill>
                <a:latin typeface="Aptos"/>
              </a:rPr>
              <a:t>Test-set performance</a:t>
            </a:r>
            <a:endParaRPr sz="1400" b="1">
              <a:solidFill>
                <a:srgbClr val="092442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736592" y="1024128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097280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685BC7"/>
                </a:solidFill>
                <a:latin typeface="Aptos"/>
              </a:rPr>
              <a:t>80.85%</a:t>
            </a:r>
            <a:endParaRPr sz="1600" b="1">
              <a:solidFill>
                <a:srgbClr val="685BC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00600" y="1389888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Accuracy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63056" y="1024128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7064" y="1097280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685BC7"/>
                </a:solidFill>
                <a:latin typeface="Aptos"/>
              </a:rPr>
              <a:t>82.35%</a:t>
            </a:r>
            <a:endParaRPr sz="1600" b="1">
              <a:solidFill>
                <a:srgbClr val="685BC7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27064" y="1389888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Precision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589520" y="1024128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1097280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685BC7"/>
                </a:solidFill>
                <a:latin typeface="Aptos"/>
              </a:rPr>
              <a:t>70.00%</a:t>
            </a:r>
            <a:endParaRPr sz="1600" b="1">
              <a:solidFill>
                <a:srgbClr val="685BC7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53528" y="1389888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Recall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36592" y="1773936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1847088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685BC7"/>
                </a:solidFill>
                <a:latin typeface="Aptos"/>
              </a:rPr>
              <a:t>75.68%</a:t>
            </a:r>
            <a:endParaRPr sz="1600" b="1">
              <a:solidFill>
                <a:srgbClr val="685BC7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00600" y="2139696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F1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63056" y="1773936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7064" y="1847088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685BC7"/>
                </a:solidFill>
                <a:latin typeface="Aptos"/>
              </a:rPr>
              <a:t>89.44%</a:t>
            </a:r>
            <a:endParaRPr sz="1600" b="1">
              <a:solidFill>
                <a:srgbClr val="685BC7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27064" y="2139696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ROC-AUC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736592" y="2706624"/>
            <a:ext cx="3977639" cy="1536192"/>
          </a:xfrm>
          <a:prstGeom prst="roundRect">
            <a:avLst/>
          </a:prstGeom>
          <a:solidFill>
            <a:srgbClr val="E5F1FC"/>
          </a:solidFill>
          <a:ln>
            <a:solidFill>
              <a:srgbClr val="C6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1184" y="2816352"/>
            <a:ext cx="3611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92442"/>
                </a:solidFill>
                <a:latin typeface="Aptos"/>
              </a:rPr>
              <a:t>How to explain this slide</a:t>
            </a:r>
            <a:endParaRPr sz="1200" b="1">
              <a:solidFill>
                <a:srgbClr val="092442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01184" y="3136392"/>
            <a:ext cx="3639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030" indent="-160020">
              <a:spcAft>
                <a:spcPts val="600"/>
              </a:spcAft>
              <a:defRPr sz="980">
                <a:solidFill>
                  <a:srgbClr val="1F2D3D"/>
                </a:solidFill>
                <a:latin typeface="Aptos"/>
              </a:defRPr>
            </a:pPr>
            <a:r>
              <a:t>• Very close to Logistic Regression, but with slightly higher ROC-AUC.</a:t>
            </a:r>
          </a:p>
          <a:p>
            <a:pPr marL="240030" indent="-160020">
              <a:spcAft>
                <a:spcPts val="600"/>
              </a:spcAft>
              <a:defRPr sz="980">
                <a:solidFill>
                  <a:srgbClr val="1F2D3D"/>
                </a:solidFill>
                <a:latin typeface="Aptos"/>
              </a:defRPr>
            </a:pPr>
            <a:r>
              <a:t>• The linear kernel shows that a simple boundary was enough for most patterns.</a:t>
            </a:r>
          </a:p>
          <a:p>
            <a:pPr marL="240030" indent="-160020">
              <a:spcAft>
                <a:spcPts val="600"/>
              </a:spcAft>
              <a:defRPr sz="980">
                <a:solidFill>
                  <a:srgbClr val="1F2D3D"/>
                </a:solidFill>
                <a:latin typeface="Aptos"/>
              </a:defRPr>
            </a:pPr>
            <a:r>
              <a:t>• Still missed 30% of actual dementia cases, so threshold tuning may be needed.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553712"/>
            <a:ext cx="8321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0">
                <a:solidFill>
                  <a:srgbClr val="5F6F80"/>
                </a:solidFill>
                <a:latin typeface="Aptos"/>
              </a:rPr>
              <a:t>Main message: compare models not only by accuracy, but also by recall and ROC-AUC because this is a medical screening problem.</a:t>
            </a:r>
            <a:endParaRPr sz="850" b="0">
              <a:solidFill>
                <a:srgbClr val="5F6F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9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01768"/>
            <a:ext cx="9144000" cy="73152"/>
          </a:xfrm>
          <a:prstGeom prst="rect">
            <a:avLst/>
          </a:prstGeom>
          <a:solidFill>
            <a:srgbClr val="C4D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6035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Model 3 — Decision Tree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46520" y="118872"/>
            <a:ext cx="2240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C4DDF2"/>
                </a:solidFill>
                <a:latin typeface="Aptos"/>
              </a:rPr>
              <a:t>Separate model explanation</a:t>
            </a:r>
            <a:endParaRPr sz="850" b="0">
              <a:solidFill>
                <a:srgbClr val="C4DDF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" y="713232"/>
            <a:ext cx="39776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73152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804672"/>
            <a:ext cx="372160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E67E22"/>
                </a:solidFill>
                <a:latin typeface="Aptos"/>
              </a:rPr>
              <a:t>What the model does</a:t>
            </a:r>
            <a:endParaRPr sz="1150" b="1">
              <a:solidFill>
                <a:srgbClr val="E67E22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" y="1060704"/>
            <a:ext cx="3721607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30" b="0">
                <a:solidFill>
                  <a:srgbClr val="1F2D3D"/>
                </a:solidFill>
                <a:latin typeface="Aptos"/>
              </a:rPr>
              <a:t>A Decision Tree makes predictions using a sequence of if/then rules. It splits the data based on features such as MMSE, BrainVolume, and Age.</a:t>
            </a:r>
            <a:endParaRPr sz="930" b="0">
              <a:solidFill>
                <a:srgbClr val="1F2D3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1901952"/>
            <a:ext cx="3977639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901952"/>
            <a:ext cx="73152" cy="87782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993392"/>
            <a:ext cx="372160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E67E22"/>
                </a:solidFill>
                <a:latin typeface="Aptos"/>
              </a:rPr>
              <a:t>Why we used it</a:t>
            </a:r>
            <a:endParaRPr sz="1150" b="1">
              <a:solidFill>
                <a:srgbClr val="E67E2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072" y="2249424"/>
            <a:ext cx="3721607" cy="4663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30" b="0">
                <a:solidFill>
                  <a:srgbClr val="1F2D3D"/>
                </a:solidFill>
                <a:latin typeface="Aptos"/>
              </a:rPr>
              <a:t>Used because it is easy to explain during discussion: we can trace how the model reaches a prediction step by step.</a:t>
            </a:r>
            <a:endParaRPr sz="930" b="0">
              <a:solidFill>
                <a:srgbClr val="1F2D3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1480" y="2907792"/>
            <a:ext cx="397763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907792"/>
            <a:ext cx="73152" cy="7132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999232"/>
            <a:ext cx="372160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E67E22"/>
                </a:solidFill>
                <a:latin typeface="Aptos"/>
              </a:rPr>
              <a:t>Final configuration</a:t>
            </a:r>
            <a:endParaRPr sz="1150" b="1">
              <a:solidFill>
                <a:srgbClr val="E67E22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6072" y="3255264"/>
            <a:ext cx="3721607" cy="301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30" b="0">
                <a:solidFill>
                  <a:srgbClr val="1F2D3D"/>
                </a:solidFill>
                <a:latin typeface="Aptos"/>
              </a:rPr>
              <a:t>Entropy criterion · max_depth = 3 · min_samples_split = 2 · min_samples_leaf = 4 ·</a:t>
            </a:r>
            <a:endParaRPr sz="930" b="0">
              <a:solidFill>
                <a:srgbClr val="1F2D3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6592" y="694944"/>
            <a:ext cx="374903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92442"/>
                </a:solidFill>
                <a:latin typeface="Aptos"/>
              </a:rPr>
              <a:t>Test-set performance</a:t>
            </a:r>
            <a:endParaRPr sz="1400" b="1">
              <a:solidFill>
                <a:srgbClr val="092442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736592" y="1024128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097280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E67E22"/>
                </a:solidFill>
                <a:latin typeface="Aptos"/>
              </a:rPr>
              <a:t>85.11%</a:t>
            </a:r>
            <a:endParaRPr sz="1600" b="1">
              <a:solidFill>
                <a:srgbClr val="E67E22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00600" y="1389888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Accuracy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63056" y="1024128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7064" y="1097280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E67E22"/>
                </a:solidFill>
                <a:latin typeface="Aptos"/>
              </a:rPr>
              <a:t>93.33%</a:t>
            </a:r>
            <a:endParaRPr sz="1600" b="1">
              <a:solidFill>
                <a:srgbClr val="E67E22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27064" y="1389888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Precision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589520" y="1024128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1097280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E67E22"/>
                </a:solidFill>
                <a:latin typeface="Aptos"/>
              </a:rPr>
              <a:t>70.00%</a:t>
            </a:r>
            <a:endParaRPr sz="1600" b="1">
              <a:solidFill>
                <a:srgbClr val="E67E22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53528" y="1389888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Recall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36592" y="1773936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1847088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E67E22"/>
                </a:solidFill>
                <a:latin typeface="Aptos"/>
              </a:rPr>
              <a:t>80.00%</a:t>
            </a:r>
            <a:endParaRPr sz="1600" b="1">
              <a:solidFill>
                <a:srgbClr val="E67E22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00600" y="2139696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F1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63056" y="1773936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7064" y="1847088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E67E22"/>
                </a:solidFill>
                <a:latin typeface="Aptos"/>
              </a:rPr>
              <a:t>89.72%</a:t>
            </a:r>
            <a:endParaRPr sz="1600" b="1">
              <a:solidFill>
                <a:srgbClr val="E67E22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27064" y="2139696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ROC-AUC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736592" y="2706624"/>
            <a:ext cx="3977639" cy="1536192"/>
          </a:xfrm>
          <a:prstGeom prst="roundRect">
            <a:avLst/>
          </a:prstGeom>
          <a:solidFill>
            <a:srgbClr val="E5F1FC"/>
          </a:solidFill>
          <a:ln>
            <a:solidFill>
              <a:srgbClr val="C6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1184" y="2816352"/>
            <a:ext cx="3611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92442"/>
                </a:solidFill>
                <a:latin typeface="Aptos"/>
              </a:rPr>
              <a:t>How to explain this slide</a:t>
            </a:r>
            <a:endParaRPr sz="1200" b="1">
              <a:solidFill>
                <a:srgbClr val="092442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01184" y="3136392"/>
            <a:ext cx="3639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030" indent="-160020">
              <a:spcAft>
                <a:spcPts val="600"/>
              </a:spcAft>
              <a:defRPr sz="980">
                <a:solidFill>
                  <a:srgbClr val="1F2D3D"/>
                </a:solidFill>
                <a:latin typeface="Aptos"/>
              </a:defRPr>
            </a:pPr>
            <a:r>
              <a:t>• Best accuracy and best F1-score on the test set.</a:t>
            </a:r>
          </a:p>
          <a:p>
            <a:pPr marL="240030" indent="-160020">
              <a:spcAft>
                <a:spcPts val="600"/>
              </a:spcAft>
              <a:defRPr sz="980">
                <a:solidFill>
                  <a:srgbClr val="1F2D3D"/>
                </a:solidFill>
                <a:latin typeface="Aptos"/>
              </a:defRPr>
            </a:pPr>
            <a:r>
              <a:t>• Highest precision: when it predicted Demented, it was usually correct.</a:t>
            </a:r>
          </a:p>
          <a:p>
            <a:pPr marL="240030" indent="-160020">
              <a:spcAft>
                <a:spcPts val="600"/>
              </a:spcAft>
              <a:defRPr sz="980">
                <a:solidFill>
                  <a:srgbClr val="1F2D3D"/>
                </a:solidFill>
                <a:latin typeface="Aptos"/>
              </a:defRPr>
            </a:pPr>
            <a:r>
              <a:t>• Main weakness: recall stayed 70%, meaning it still missed 6 of 20 dementia cases.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553712"/>
            <a:ext cx="8321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0">
                <a:solidFill>
                  <a:srgbClr val="5F6F80"/>
                </a:solidFill>
                <a:latin typeface="Aptos"/>
              </a:rPr>
              <a:t>Main message: compare models not only by accuracy, but also by recall and ROC-AUC because this is a medical screening problem.</a:t>
            </a:r>
            <a:endParaRPr sz="850" b="0">
              <a:solidFill>
                <a:srgbClr val="5F6F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9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01768"/>
            <a:ext cx="9144000" cy="73152"/>
          </a:xfrm>
          <a:prstGeom prst="rect">
            <a:avLst/>
          </a:prstGeom>
          <a:solidFill>
            <a:srgbClr val="C4D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6035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Model 4 — Random Forest</a:t>
            </a:r>
            <a:endParaRPr sz="20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46520" y="118872"/>
            <a:ext cx="22402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C4DDF2"/>
                </a:solidFill>
                <a:latin typeface="Aptos"/>
              </a:rPr>
              <a:t>Separate model explanation</a:t>
            </a:r>
            <a:endParaRPr sz="850" b="0">
              <a:solidFill>
                <a:srgbClr val="C4DDF2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" y="713232"/>
            <a:ext cx="39776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73152" cy="1051560"/>
          </a:xfrm>
          <a:prstGeom prst="rect">
            <a:avLst/>
          </a:prstGeom>
          <a:solidFill>
            <a:srgbClr val="21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804672"/>
            <a:ext cx="372160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218E6F"/>
                </a:solidFill>
                <a:latin typeface="Aptos"/>
              </a:rPr>
              <a:t>What the model does</a:t>
            </a:r>
            <a:endParaRPr sz="1150" b="1">
              <a:solidFill>
                <a:srgbClr val="218E6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" y="1060704"/>
            <a:ext cx="3721607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30" b="0">
                <a:solidFill>
                  <a:srgbClr val="1F2D3D"/>
                </a:solidFill>
                <a:latin typeface="Aptos"/>
              </a:rPr>
              <a:t>Random Forest builds many decision trees and combines their outputs. This reduces overfitting compared with a single tree and usually gives more stable predictions.</a:t>
            </a:r>
            <a:endParaRPr sz="930" b="0">
              <a:solidFill>
                <a:srgbClr val="1F2D3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1901952"/>
            <a:ext cx="3977639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901952"/>
            <a:ext cx="73152" cy="877824"/>
          </a:xfrm>
          <a:prstGeom prst="rect">
            <a:avLst/>
          </a:prstGeom>
          <a:solidFill>
            <a:srgbClr val="21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993392"/>
            <a:ext cx="372160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218E6F"/>
                </a:solidFill>
                <a:latin typeface="Aptos"/>
              </a:rPr>
              <a:t>Why we used it</a:t>
            </a:r>
            <a:endParaRPr sz="1150" b="1">
              <a:solidFill>
                <a:srgbClr val="218E6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072" y="2249424"/>
            <a:ext cx="3721607" cy="4663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30" b="0">
                <a:solidFill>
                  <a:srgbClr val="1F2D3D"/>
                </a:solidFill>
                <a:latin typeface="Aptos"/>
              </a:rPr>
              <a:t>Used because it can capture non-linear relationships between medical features and dementia status, and it provides feature importance for interpretation.</a:t>
            </a:r>
            <a:endParaRPr sz="930" b="0">
              <a:solidFill>
                <a:srgbClr val="1F2D3D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11480" y="2907792"/>
            <a:ext cx="3977639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907792"/>
            <a:ext cx="73152" cy="713232"/>
          </a:xfrm>
          <a:prstGeom prst="rect">
            <a:avLst/>
          </a:prstGeom>
          <a:solidFill>
            <a:srgbClr val="218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999232"/>
            <a:ext cx="3721607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1">
                <a:solidFill>
                  <a:srgbClr val="218E6F"/>
                </a:solidFill>
                <a:latin typeface="Aptos"/>
              </a:rPr>
              <a:t>Final configuration</a:t>
            </a:r>
            <a:endParaRPr sz="1150" b="1">
              <a:solidFill>
                <a:srgbClr val="218E6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5945" y="3255010"/>
            <a:ext cx="3721735" cy="4032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30" b="0">
                <a:solidFill>
                  <a:srgbClr val="1F2D3D"/>
                </a:solidFill>
                <a:latin typeface="Aptos"/>
              </a:rPr>
              <a:t>100 trees · max_depth = 16  · min_samples_split = 2 · </a:t>
            </a:r>
            <a:endParaRPr sz="930" b="0">
              <a:solidFill>
                <a:srgbClr val="1F2D3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6592" y="694944"/>
            <a:ext cx="374903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092442"/>
                </a:solidFill>
                <a:latin typeface="Aptos"/>
              </a:rPr>
              <a:t>Test-set performance</a:t>
            </a:r>
            <a:endParaRPr sz="1400" b="1">
              <a:solidFill>
                <a:srgbClr val="092442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736592" y="1024128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097280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218E6F"/>
                </a:solidFill>
                <a:latin typeface="Aptos"/>
              </a:rPr>
              <a:t>82.98%</a:t>
            </a:r>
            <a:endParaRPr sz="1600" b="1">
              <a:solidFill>
                <a:srgbClr val="218E6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00600" y="1389888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Accuracy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63056" y="1024128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7064" y="1097280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218E6F"/>
                </a:solidFill>
                <a:latin typeface="Aptos"/>
              </a:rPr>
              <a:t>87.50%</a:t>
            </a:r>
            <a:endParaRPr sz="1600" b="1">
              <a:solidFill>
                <a:srgbClr val="218E6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27064" y="1389888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Precision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589520" y="1024128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1097280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218E6F"/>
                </a:solidFill>
                <a:latin typeface="Aptos"/>
              </a:rPr>
              <a:t>70.00%</a:t>
            </a:r>
            <a:endParaRPr sz="1600" b="1">
              <a:solidFill>
                <a:srgbClr val="218E6F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53528" y="1389888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Recall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36592" y="1773936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1847088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218E6F"/>
                </a:solidFill>
                <a:latin typeface="Aptos"/>
              </a:rPr>
              <a:t>77.78%</a:t>
            </a:r>
            <a:endParaRPr sz="1600" b="1">
              <a:solidFill>
                <a:srgbClr val="218E6F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00600" y="2139696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F1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63056" y="1773936"/>
            <a:ext cx="13716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7064" y="1847088"/>
            <a:ext cx="1243584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218E6F"/>
                </a:solidFill>
                <a:latin typeface="Aptos"/>
              </a:rPr>
              <a:t>93.61%</a:t>
            </a:r>
            <a:endParaRPr sz="1600" b="1">
              <a:solidFill>
                <a:srgbClr val="218E6F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27064" y="2139696"/>
            <a:ext cx="124358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5F6F80"/>
                </a:solidFill>
                <a:latin typeface="Aptos"/>
              </a:rPr>
              <a:t>ROC-AUC</a:t>
            </a:r>
            <a:endParaRPr sz="780" b="1">
              <a:solidFill>
                <a:srgbClr val="5F6F80"/>
              </a:solidFill>
              <a:latin typeface="Aptos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736592" y="2706624"/>
            <a:ext cx="3977639" cy="1536192"/>
          </a:xfrm>
          <a:prstGeom prst="roundRect">
            <a:avLst/>
          </a:prstGeom>
          <a:solidFill>
            <a:srgbClr val="E5F1FC"/>
          </a:solidFill>
          <a:ln>
            <a:solidFill>
              <a:srgbClr val="C6DB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1184" y="2816352"/>
            <a:ext cx="3611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092442"/>
                </a:solidFill>
                <a:latin typeface="Aptos"/>
              </a:rPr>
              <a:t>How to explain this slide</a:t>
            </a:r>
            <a:endParaRPr sz="1200" b="1">
              <a:solidFill>
                <a:srgbClr val="092442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01184" y="3136392"/>
            <a:ext cx="3639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0030" indent="-160020">
              <a:spcAft>
                <a:spcPts val="600"/>
              </a:spcAft>
              <a:defRPr sz="980">
                <a:solidFill>
                  <a:srgbClr val="1F2D3D"/>
                </a:solidFill>
                <a:latin typeface="Aptos"/>
              </a:defRPr>
            </a:pPr>
            <a:r>
              <a:t>• Highest ROC-AUC, so it separated Demented vs Non-Demented best across thresholds.</a:t>
            </a:r>
          </a:p>
          <a:p>
            <a:pPr marL="240030" indent="-160020">
              <a:spcAft>
                <a:spcPts val="600"/>
              </a:spcAft>
              <a:defRPr sz="980">
                <a:solidFill>
                  <a:srgbClr val="1F2D3D"/>
                </a:solidFill>
                <a:latin typeface="Aptos"/>
              </a:defRPr>
            </a:pPr>
            <a:r>
              <a:t>• Strongest model for screening if we adjust the classification threshold.</a:t>
            </a:r>
          </a:p>
          <a:p>
            <a:pPr marL="240030" indent="-160020">
              <a:spcAft>
                <a:spcPts val="600"/>
              </a:spcAft>
              <a:defRPr sz="980">
                <a:solidFill>
                  <a:srgbClr val="1F2D3D"/>
                </a:solidFill>
                <a:latin typeface="Aptos"/>
              </a:defRPr>
            </a:pPr>
            <a:r>
              <a:t>• Feature importance showed MMSE, BrainVolume, and Age as the main predictors.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553712"/>
            <a:ext cx="8321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0">
                <a:solidFill>
                  <a:srgbClr val="5F6F80"/>
                </a:solidFill>
                <a:latin typeface="Aptos"/>
              </a:rPr>
              <a:t>Main message: compare models not only by accuracy, but also by recall and ROC-AUC because this is a medical screening problem.</a:t>
            </a:r>
            <a:endParaRPr sz="850" b="0">
              <a:solidFill>
                <a:srgbClr val="5F6F8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— Model Comparison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5577840" cy="400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989320" y="868680"/>
          <a:ext cx="2880360" cy="2606040"/>
        </p:xfrm>
        <a:graphic>
          <a:graphicData uri="http://schemas.openxmlformats.org/drawingml/2006/table">
            <a:tbl>
              <a:tblPr/>
              <a:tblGrid>
                <a:gridCol w="480060"/>
                <a:gridCol w="480060"/>
                <a:gridCol w="480060"/>
                <a:gridCol w="480060"/>
                <a:gridCol w="480060"/>
                <a:gridCol w="48006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AUC%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80.85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82.35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70.00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75.68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88.89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SVM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80.85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82.35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70.00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75.68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89.44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85.11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93.33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70.00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80.00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F4FD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89.72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RF ⭐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82.98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87.50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70.00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77.78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93.61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D4A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989320" y="3611880"/>
            <a:ext cx="2880360" cy="1261872"/>
          </a:xfrm>
          <a:prstGeom prst="roundRect">
            <a:avLst>
              <a:gd name="adj" fmla="val 7246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080760" y="3675888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 Winner: Random Forest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080760" y="4041648"/>
            <a:ext cx="26974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ROC-AUC (93.6%) — best at distinguishing demented from non-demented across all thresholds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Importance — What Drives the Predictions?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5212080" cy="400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669280" y="868680"/>
          <a:ext cx="32461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669280" y="3310128"/>
            <a:ext cx="3246120" cy="841248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760720" y="334670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MMSE = #1 Predictor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760720" y="3621024"/>
            <a:ext cx="3063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38.5% RF · 80.9% DT — the single most important feature across ALL models. Cognitive decline is the clearest early signal of dementia.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669280" y="4270248"/>
            <a:ext cx="3246120" cy="841248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760720" y="430682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nWBV = #2 Predictor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760720" y="4581144"/>
            <a:ext cx="30632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17.5% RF — brain atrophy (shrinkage) is a consistent early biomarker. Smaller brain volume = higher dementia risk.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 &amp; Challenges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Learned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25880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" y="1261872"/>
            <a:ext cx="3749040" cy="749808"/>
          </a:xfrm>
          <a:prstGeom prst="roundRect">
            <a:avLst>
              <a:gd name="adj" fmla="val 8537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128930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MMSE is the #1 predictor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4944" y="1536192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cognitive score dominates every model (38.5% RF, 80.9% DT) — validates clinical use of MMSE in dementia screening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9456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3504" y="2130552"/>
            <a:ext cx="3749040" cy="749808"/>
          </a:xfrm>
          <a:prstGeom prst="roundRect">
            <a:avLst>
              <a:gd name="adj" fmla="val 8537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94944" y="215798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Brain atrophy = early signal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94944" y="2404872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nWBV is consistently 2nd place — biological brain shrinkage is a measurable and reliable early warning sign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063240"/>
            <a:ext cx="25603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03504" y="2999232"/>
            <a:ext cx="3749040" cy="749808"/>
          </a:xfrm>
          <a:prstGeom prst="roundRect">
            <a:avLst>
              <a:gd name="adj" fmla="val 8537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94944" y="302666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matters in ensembles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94944" y="3273552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ranks 3rd in Random Forest (16%) but not in linear models — the relationship with dementia is non-linear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931920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03504" y="3867912"/>
            <a:ext cx="3749040" cy="749808"/>
          </a:xfrm>
          <a:prstGeom prst="roundRect">
            <a:avLst>
              <a:gd name="adj" fmla="val 8537"/>
            </a:avLst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94944" y="389534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4 models agree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94944" y="4142232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MMSE + nWBV top the charts regardless of algorithm — strongly validates the clinical intuition behind these tests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846320" y="86868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</a:t>
            </a:r>
            <a:endParaRPr lang="en-US" sz="14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256032" cy="2560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175504" y="1261872"/>
            <a:ext cx="3749040" cy="749808"/>
          </a:xfrm>
          <a:prstGeom prst="roundRect">
            <a:avLst>
              <a:gd name="adj" fmla="val 8537"/>
            </a:avLst>
          </a:prstGeom>
          <a:solidFill>
            <a:srgbClr val="1323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266944" y="128930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usable dataset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266944" y="1536192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235 samples after preprocessing — models may overfit and may not generalize well to larger populations</a:t>
            </a:r>
            <a:endParaRPr lang="en-US" sz="9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94560"/>
            <a:ext cx="256032" cy="25603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175504" y="2130552"/>
            <a:ext cx="3749040" cy="749808"/>
          </a:xfrm>
          <a:prstGeom prst="roundRect">
            <a:avLst>
              <a:gd name="adj" fmla="val 8537"/>
            </a:avLst>
          </a:prstGeom>
          <a:solidFill>
            <a:srgbClr val="1323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5266944" y="215798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missing data rate (46%)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266944" y="2404872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 rows dropped due to missing CDR. A less strict imputation strategy might have retained more data</a:t>
            </a:r>
            <a:endParaRPr lang="en-US" sz="9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063240"/>
            <a:ext cx="256032" cy="256032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5175504" y="2999232"/>
            <a:ext cx="3749040" cy="749808"/>
          </a:xfrm>
          <a:prstGeom prst="roundRect">
            <a:avLst>
              <a:gd name="adj" fmla="val 8537"/>
            </a:avLst>
          </a:prstGeom>
          <a:solidFill>
            <a:srgbClr val="1323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5266944" y="302666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 ceiling at 70%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5266944" y="3273552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models miss 30% of actual dementia cases — in a medical setting, false negatives carry serious consequences</a:t>
            </a:r>
            <a:endParaRPr lang="en-US" sz="95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931920"/>
            <a:ext cx="256032" cy="256032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5175504" y="3867912"/>
            <a:ext cx="3749040" cy="749808"/>
          </a:xfrm>
          <a:prstGeom prst="roundRect">
            <a:avLst>
              <a:gd name="adj" fmla="val 8537"/>
            </a:avLst>
          </a:prstGeom>
          <a:solidFill>
            <a:srgbClr val="1323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5266944" y="389534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Mild class imbalance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266944" y="4142232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135 vs 100 — SMOTE or class_weight tuning could further improve the model's sensitivity to dementia cases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8988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36245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can effectively detect Alzheimer's using MRI + cognitive data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2121408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21284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218541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achieved the best ROC-AUC of 93.61% with strong precision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2944368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03580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3232" y="300837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MMSE &amp; brain volume are the most critical diagnostic features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74320" y="3767328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385876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3232" y="383133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4 models performed consistently — validates the overall approach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754880" y="1298448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3898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93792" y="136245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Larger Multi-site Dataset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193792" y="160934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generalization across diverse populations &amp; demographics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754880" y="2121408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212848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93792" y="218541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on Raw MRI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5193792" y="243230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models to extract spatial structural features from scans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754880" y="2944368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035808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93792" y="300837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 Oversampling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5193792" y="325526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Address class imbalance to push recall beyond the 70% ceiling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4754880" y="3767328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858768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193792" y="383133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Longitudinal Data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5193792" y="4078224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patients over time to predict progression &amp; conversion rate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114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2588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029968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828800" y="2606040"/>
            <a:ext cx="5486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724912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0175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Sana Assi  ·  Assel Jayousi  ·  Noor Shawahne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828800" y="3493008"/>
            <a:ext cx="5486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5844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391363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Marcus et al. (2007). OASIS: Cross-Sectional MRI Data. J. Cognitive Neuroscience, 19(9)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14400" y="4160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Pedregosa et al. (2011). Scikit-learn: Machine Learning in Python. JMLR 12, 2825–2830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14400" y="44074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Folstein et al. (1975). Mini-mental state examination. J. Psychiatric Research, 12(3)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14400" y="4654296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WHO (2023). Dementia Fact Sheet  ·  Dataset: www.oasis-brains.org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10880</Words>
  <Application>WPS Presentation</Application>
  <PresentationFormat>On-screen Show (16:9)</PresentationFormat>
  <Paragraphs>639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Arial</vt:lpstr>
      <vt:lpstr>Aptos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Detection of Alzheimer's Disease</dc:title>
  <dc:creator>PptxGenJS</dc:creator>
  <dc:subject>PptxGenJS Presentation</dc:subject>
  <cp:lastModifiedBy>ASUS</cp:lastModifiedBy>
  <cp:revision>3</cp:revision>
  <dcterms:created xsi:type="dcterms:W3CDTF">2026-06-11T19:07:00Z</dcterms:created>
  <dcterms:modified xsi:type="dcterms:W3CDTF">2026-06-11T22:01:07Z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9AE61190AB424E779574D582D6DA3BE8_12</vt:lpwstr>
  </property>
</Properties>
</file>